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5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1EE9B86-766D-4198-910C-D46EB848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BF7EC5A-42E8-4467-A576-77C384F7A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DB0C98-BC4F-4559-97CA-6682847C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B33F28A-20C5-48B1-B3D0-BD54DEB3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FD80D07-65A1-43BB-9211-2796EEF24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5C9977B-4EE7-427D-84BE-E218C1D0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A4FB911-5412-45EA-A55B-11B12DACC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60880B2-B15D-46F1-80D7-9CE500CC2B4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6225BC9-DDAC-4141-A015-31795D4B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1AAD1EC-85EF-47A9-8D79-ED782DB55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EE97D1-6453-4832-8F13-9E2D07D305E4}"/>
              </a:ext>
            </a:extLst>
          </p:cNvPr>
          <p:cNvSpPr>
            <a:spLocks noGrp="1"/>
          </p:cNvSpPr>
          <p:nvPr/>
        </p:nvSpPr>
        <p:spPr>
          <a:xfrm>
            <a:off x="638556" y="719209"/>
            <a:ext cx="1080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00" b="1">
                <a:solidFill>
                  <a:srgbClr val="FFFFFF"/>
                </a:solidFill>
              </a:defRPr>
            </a:defPPr>
          </a:lstStyle>
          <a:p>
            <a:pPr>
              <a:defRPr sz="4200" b="1">
                <a:solidFill>
                  <a:srgbClr val="FFFFFF"/>
                </a:solidFill>
              </a:defRPr>
            </a:pPr>
            <a:r>
              <a:rPr lang="en-IN" sz="4200" b="1" dirty="0">
                <a:solidFill>
                  <a:srgbClr val="FFFFFF"/>
                </a:solidFill>
              </a:rPr>
              <a:t>Generating Music with ML</a:t>
            </a:r>
            <a:endParaRPr sz="4200" b="1"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7BCFA3-55AC-4BDE-A6C1-865A019F6CF4}"/>
              </a:ext>
            </a:extLst>
          </p:cNvPr>
          <p:cNvSpPr>
            <a:spLocks noGrp="1"/>
          </p:cNvSpPr>
          <p:nvPr/>
        </p:nvSpPr>
        <p:spPr>
          <a:xfrm>
            <a:off x="711708" y="1468325"/>
            <a:ext cx="819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D9E2EC"/>
                </a:solidFill>
              </a:defRPr>
            </a:defPPr>
          </a:lstStyle>
          <a:p>
            <a:pPr>
              <a:defRPr sz="1875" b="0">
                <a:solidFill>
                  <a:srgbClr val="D9E2EC"/>
                </a:solidFill>
              </a:defRPr>
            </a:pPr>
            <a:r>
              <a:rPr sz="1875" b="0" dirty="0">
                <a:solidFill>
                  <a:srgbClr val="D9E2EC"/>
                </a:solidFill>
              </a:rPr>
              <a:t>Generating </a:t>
            </a:r>
            <a:r>
              <a:rPr lang="en-IN" sz="1875" dirty="0">
                <a:solidFill>
                  <a:srgbClr val="D9E2EC"/>
                </a:solidFill>
              </a:rPr>
              <a:t>m</a:t>
            </a:r>
            <a:r>
              <a:rPr lang="en-IN" sz="1875" b="0" dirty="0">
                <a:solidFill>
                  <a:srgbClr val="D9E2EC"/>
                </a:solidFill>
              </a:rPr>
              <a:t>usic </a:t>
            </a:r>
            <a:r>
              <a:rPr sz="1875" b="0" dirty="0">
                <a:solidFill>
                  <a:srgbClr val="D9E2EC"/>
                </a:solidFill>
              </a:rPr>
              <a:t>with four machine-learning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50665A-C0F7-4EF2-A0CB-1018C390E7FA}"/>
              </a:ext>
            </a:extLst>
          </p:cNvPr>
          <p:cNvSpPr>
            <a:spLocks noGrp="1"/>
          </p:cNvSpPr>
          <p:nvPr/>
        </p:nvSpPr>
        <p:spPr>
          <a:xfrm>
            <a:off x="711708" y="2814468"/>
            <a:ext cx="8572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9FB3C8"/>
                </a:solidFill>
              </a:defRPr>
            </a:defPPr>
          </a:lstStyle>
          <a:p>
            <a:pPr>
              <a:defRPr sz="1350" b="1">
                <a:solidFill>
                  <a:srgbClr val="9FB3C8"/>
                </a:solidFill>
              </a:defRPr>
            </a:pPr>
            <a:r>
              <a:rPr lang="en-IN" sz="2000" b="1" dirty="0">
                <a:solidFill>
                  <a:srgbClr val="9FB3C8"/>
                </a:solidFill>
              </a:rPr>
              <a:t>Naive Bayes   </a:t>
            </a:r>
          </a:p>
          <a:p>
            <a:pPr>
              <a:defRPr sz="1350" b="1">
                <a:solidFill>
                  <a:srgbClr val="9FB3C8"/>
                </a:solidFill>
              </a:defRPr>
            </a:pPr>
            <a:r>
              <a:rPr lang="en-IN" sz="2000" b="1" dirty="0">
                <a:solidFill>
                  <a:srgbClr val="9FB3C8"/>
                </a:solidFill>
              </a:rPr>
              <a:t>Neural Network   </a:t>
            </a:r>
          </a:p>
          <a:p>
            <a:pPr>
              <a:defRPr sz="1350" b="1">
                <a:solidFill>
                  <a:srgbClr val="9FB3C8"/>
                </a:solidFill>
              </a:defRPr>
            </a:pPr>
            <a:r>
              <a:rPr lang="en-IN" sz="2000" b="1" dirty="0">
                <a:solidFill>
                  <a:srgbClr val="9FB3C8"/>
                </a:solidFill>
              </a:rPr>
              <a:t>LSTM   </a:t>
            </a:r>
          </a:p>
          <a:p>
            <a:pPr>
              <a:defRPr sz="1350" b="1">
                <a:solidFill>
                  <a:srgbClr val="9FB3C8"/>
                </a:solidFill>
              </a:defRPr>
            </a:pPr>
            <a:r>
              <a:rPr lang="en-IN" sz="2000" b="1" dirty="0">
                <a:solidFill>
                  <a:srgbClr val="9FB3C8"/>
                </a:solidFill>
              </a:rPr>
              <a:t>Encoder-Decoder</a:t>
            </a:r>
          </a:p>
        </p:txBody>
      </p:sp>
      <p:sp>
        <p:nvSpPr>
          <p:cNvPr id="7" name="Team Members"/>
          <p:cNvSpPr txBox="1"/>
          <p:nvPr/>
        </p:nvSpPr>
        <p:spPr>
          <a:xfrm>
            <a:off x="812292" y="5471943"/>
            <a:ext cx="6858000" cy="74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Aft>
                <a:spcPts val="600"/>
              </a:spcAft>
              <a:tabLst>
                <a:tab pos="2286000" algn="l"/>
              </a:tabLst>
            </a:pPr>
            <a:r>
              <a:rPr lang="en-IN" sz="1600" b="1" dirty="0">
                <a:solidFill>
                  <a:srgbClr val="FFFFFF"/>
                </a:solidFill>
              </a:rPr>
              <a:t>Meghana Rayudu</a:t>
            </a:r>
            <a:r>
              <a:rPr lang="en-IN" sz="1600" b="0" dirty="0">
                <a:solidFill>
                  <a:srgbClr val="D9E2EC"/>
                </a:solidFill>
              </a:rPr>
              <a:t>	PES2UG24CS398</a:t>
            </a:r>
          </a:p>
          <a:p>
            <a:pPr>
              <a:tabLst>
                <a:tab pos="2286000" algn="l"/>
              </a:tabLst>
            </a:pPr>
            <a:r>
              <a:rPr lang="en-IN" sz="1600" b="1" dirty="0">
                <a:solidFill>
                  <a:srgbClr val="FFFFFF"/>
                </a:solidFill>
              </a:rPr>
              <a:t>Ronak Thamaran</a:t>
            </a:r>
            <a:r>
              <a:rPr lang="en-IN" sz="1600" b="0" dirty="0">
                <a:solidFill>
                  <a:srgbClr val="D9E2EC"/>
                </a:solidFill>
              </a:rPr>
              <a:t>	PES2UG24CS410</a:t>
            </a:r>
          </a:p>
        </p:txBody>
      </p:sp>
    </p:spTree>
    <p:extLst>
      <p:ext uri="{BB962C8B-B14F-4D97-AF65-F5344CB8AC3E}">
        <p14:creationId xmlns:p14="http://schemas.microsoft.com/office/powerpoint/2010/main" val="133950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402E0A-310A-41C6-AB14-BC58D7E4D2F3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Problem and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2D6A3-82B5-4F8C-9743-BF1F6E598A7F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096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334E68"/>
                </a:solidFill>
              </a:defRPr>
            </a:defPPr>
          </a:lstStyle>
          <a:p>
            <a:pPr>
              <a:defRPr sz="1875" b="0">
                <a:solidFill>
                  <a:srgbClr val="334E68"/>
                </a:solidFill>
              </a:defRPr>
            </a:pPr>
            <a:r>
              <a:rPr sz="1875" b="0">
                <a:solidFill>
                  <a:srgbClr val="334E68"/>
                </a:solidFill>
              </a:rPr>
              <a:t>Input: public piano MIDI files</a:t>
            </a:r>
          </a:p>
          <a:p>
            <a:endParaRPr sz="1875" b="0">
              <a:solidFill>
                <a:srgbClr val="334E68"/>
              </a:solidFill>
            </a:endParaRPr>
          </a:p>
          <a:p>
            <a:pPr>
              <a:defRPr sz="1875" b="0">
                <a:solidFill>
                  <a:srgbClr val="334E68"/>
                </a:solidFill>
              </a:defRPr>
            </a:pPr>
            <a:r>
              <a:rPr sz="1875" b="0">
                <a:solidFill>
                  <a:srgbClr val="334E68"/>
                </a:solidFill>
              </a:rPr>
              <a:t>Task: learn event patterns and continue a seed phrase</a:t>
            </a:r>
          </a:p>
          <a:p>
            <a:endParaRPr sz="1875" b="0">
              <a:solidFill>
                <a:srgbClr val="334E68"/>
              </a:solidFill>
            </a:endParaRPr>
          </a:p>
          <a:p>
            <a:pPr>
              <a:defRPr sz="1875" b="0">
                <a:solidFill>
                  <a:srgbClr val="334E68"/>
                </a:solidFill>
              </a:defRPr>
            </a:pPr>
            <a:r>
              <a:rPr sz="1875" b="0">
                <a:solidFill>
                  <a:srgbClr val="334E68"/>
                </a:solidFill>
              </a:rPr>
              <a:t>Output: a standard MIDI file written directly to artifacts/generated</a:t>
            </a:r>
          </a:p>
          <a:p>
            <a:endParaRPr sz="1875" b="0">
              <a:solidFill>
                <a:srgbClr val="334E68"/>
              </a:solidFill>
            </a:endParaRPr>
          </a:p>
          <a:p>
            <a:pPr>
              <a:defRPr sz="1875" b="0">
                <a:solidFill>
                  <a:srgbClr val="334E68"/>
                </a:solidFill>
              </a:defRPr>
            </a:pPr>
            <a:r>
              <a:rPr sz="1875" b="0">
                <a:solidFill>
                  <a:srgbClr val="334E68"/>
                </a:solidFill>
              </a:rPr>
              <a:t>Evaluation: same prepared corpus and held-out pieces for every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7375F-0EA8-4BFC-8295-80E5AF8DA795}"/>
              </a:ext>
            </a:extLst>
          </p:cNvPr>
          <p:cNvSpPr>
            <a:spLocks noGrp="1"/>
          </p:cNvSpPr>
          <p:nvPr/>
        </p:nvSpPr>
        <p:spPr>
          <a:xfrm>
            <a:off x="704850" y="6300000"/>
            <a:ext cx="10096500" cy="3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37381"/>
                </a:solidFill>
              </a:defRPr>
            </a:defPPr>
          </a:lstStyle>
          <a:p>
            <a:pPr>
              <a:defRPr sz="1200" b="0">
                <a:solidFill>
                  <a:srgbClr val="637381"/>
                </a:solidFill>
              </a:defRPr>
            </a:pPr>
            <a:endParaRPr sz="1200" b="0" dirty="0">
              <a:solidFill>
                <a:srgbClr val="6373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43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402E0A-310A-41C6-AB14-BC58D7E4D2F3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Three-stage pipeline</a:t>
            </a:r>
          </a:p>
        </p:txBody>
      </p:sp>
      <p:sp>
        <p:nvSpPr>
          <p:cNvPr id="20" name="Stage 1"/>
          <p:cNvSpPr/>
          <p:nvPr/>
        </p:nvSpPr>
        <p:spPr>
          <a:xfrm>
            <a:off x="876300" y="1450000"/>
            <a:ext cx="2898000" cy="115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</a:rPr>
              <a:t>1  Preprocess</a:t>
            </a:r>
          </a:p>
          <a:p>
            <a:pPr algn="ctr">
              <a:spcAft>
                <a:spcPts val="0"/>
              </a:spcAft>
            </a:pPr>
            <a:r>
              <a:rPr lang="en-US" sz="1400" b="0" dirty="0">
                <a:solidFill>
                  <a:srgbClr val="D9E2EC"/>
                </a:solidFill>
              </a:rPr>
              <a:t>src/preprocess.py</a:t>
            </a:r>
          </a:p>
        </p:txBody>
      </p:sp>
      <p:sp>
        <p:nvSpPr>
          <p:cNvPr id="30" name="Stage 1 IO"/>
          <p:cNvSpPr/>
          <p:nvPr/>
        </p:nvSpPr>
        <p:spPr>
          <a:xfrm>
            <a:off x="876300" y="2950000"/>
            <a:ext cx="2898000" cy="2300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INPUT</a:t>
            </a:r>
          </a:p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334E68"/>
                </a:solidFill>
              </a:rPr>
              <a:t>data/raw: 24 public MIDI files</a:t>
            </a:r>
          </a:p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334E68"/>
                </a:solidFill>
              </a:rPr>
              <a:t>artifacts/preprocessed: corpus, vocabulary, manifest</a:t>
            </a:r>
          </a:p>
        </p:txBody>
      </p:sp>
      <p:sp>
        <p:nvSpPr>
          <p:cNvPr id="40" name="Arrow 1"/>
          <p:cNvSpPr/>
          <p:nvPr/>
        </p:nvSpPr>
        <p:spPr>
          <a:xfrm>
            <a:off x="3874925" y="1750000"/>
            <a:ext cx="500000" cy="550000"/>
          </a:xfrm>
          <a:prstGeom prst="rightArrow">
            <a:avLst/>
          </a:prstGeom>
          <a:solidFill>
            <a:srgbClr val="9FB3C8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en-US"/>
          </a:p>
        </p:txBody>
      </p:sp>
      <p:sp>
        <p:nvSpPr>
          <p:cNvPr id="21" name="Stage 2"/>
          <p:cNvSpPr/>
          <p:nvPr/>
        </p:nvSpPr>
        <p:spPr>
          <a:xfrm>
            <a:off x="4475550" y="1450000"/>
            <a:ext cx="2898000" cy="115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</a:rPr>
              <a:t>2  Train</a:t>
            </a:r>
          </a:p>
          <a:p>
            <a:pPr algn="ctr">
              <a:spcAft>
                <a:spcPts val="0"/>
              </a:spcAft>
            </a:pPr>
            <a:r>
              <a:rPr lang="en-US" sz="1400" b="0" dirty="0">
                <a:solidFill>
                  <a:srgbClr val="D9E2EC"/>
                </a:solidFill>
              </a:rPr>
              <a:t>src/train_all.py</a:t>
            </a:r>
          </a:p>
        </p:txBody>
      </p:sp>
      <p:sp>
        <p:nvSpPr>
          <p:cNvPr id="31" name="Stage 2 IO"/>
          <p:cNvSpPr/>
          <p:nvPr/>
        </p:nvSpPr>
        <p:spPr>
          <a:xfrm>
            <a:off x="4475550" y="2950000"/>
            <a:ext cx="2898000" cy="2300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INPUT</a:t>
            </a:r>
          </a:p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334E68"/>
                </a:solidFill>
              </a:rPr>
              <a:t>artifacts/preprocessed</a:t>
            </a:r>
          </a:p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334E68"/>
                </a:solidFill>
              </a:rPr>
              <a:t>Four checkpoints and metrics.json</a:t>
            </a:r>
          </a:p>
        </p:txBody>
      </p:sp>
      <p:sp>
        <p:nvSpPr>
          <p:cNvPr id="41" name="Arrow 2"/>
          <p:cNvSpPr/>
          <p:nvPr/>
        </p:nvSpPr>
        <p:spPr>
          <a:xfrm>
            <a:off x="7474175" y="1750000"/>
            <a:ext cx="500000" cy="550000"/>
          </a:xfrm>
          <a:prstGeom prst="rightArrow">
            <a:avLst/>
          </a:prstGeom>
          <a:solidFill>
            <a:srgbClr val="9FB3C8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endParaRPr lang="en-US"/>
          </a:p>
        </p:txBody>
      </p:sp>
      <p:sp>
        <p:nvSpPr>
          <p:cNvPr id="22" name="Stage 3"/>
          <p:cNvSpPr/>
          <p:nvPr/>
        </p:nvSpPr>
        <p:spPr>
          <a:xfrm>
            <a:off x="8074800" y="1450000"/>
            <a:ext cx="2898000" cy="1150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2000" b="1" dirty="0">
                <a:solidFill>
                  <a:srgbClr val="FFFFFF"/>
                </a:solidFill>
              </a:rPr>
              <a:t>3  Generate</a:t>
            </a:r>
          </a:p>
          <a:p>
            <a:pPr algn="ctr">
              <a:spcAft>
                <a:spcPts val="0"/>
              </a:spcAft>
            </a:pPr>
            <a:r>
              <a:rPr lang="en-US" sz="1400" b="0" dirty="0">
                <a:solidFill>
                  <a:srgbClr val="D9E2EC"/>
                </a:solidFill>
              </a:rPr>
              <a:t>src/generate.py</a:t>
            </a:r>
          </a:p>
        </p:txBody>
      </p:sp>
      <p:sp>
        <p:nvSpPr>
          <p:cNvPr id="32" name="Stage 3 IO"/>
          <p:cNvSpPr/>
          <p:nvPr/>
        </p:nvSpPr>
        <p:spPr>
          <a:xfrm>
            <a:off x="8074800" y="2950000"/>
            <a:ext cx="2898000" cy="23000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txBody>
          <a:bodyPr wrap="square" lIns="137160" tIns="91440" rIns="137160" bIns="91440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INPUT</a:t>
            </a:r>
          </a:p>
          <a:p>
            <a:pPr algn="l">
              <a:spcAft>
                <a:spcPts val="900"/>
              </a:spcAft>
            </a:pPr>
            <a:r>
              <a:rPr lang="en-US" sz="1600" b="0" dirty="0">
                <a:solidFill>
                  <a:srgbClr val="334E68"/>
                </a:solidFill>
              </a:rPr>
              <a:t>Prepared corpus and one checkpoint</a:t>
            </a:r>
          </a:p>
          <a:p>
            <a:pPr algn="l">
              <a:spcAft>
                <a:spcPts val="100"/>
              </a:spcAft>
            </a:pPr>
            <a:r>
              <a:rPr lang="en-US" sz="1100" b="1" dirty="0">
                <a:solidFill>
                  <a:srgbClr val="627D98"/>
                </a:solidFill>
              </a:rPr>
              <a:t>OUTPUT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334E68"/>
                </a:solidFill>
              </a:rPr>
              <a:t>One .mid file and a .generation.json trace</a:t>
            </a:r>
          </a:p>
        </p:txBody>
      </p:sp>
    </p:spTree>
    <p:extLst>
      <p:ext uri="{BB962C8B-B14F-4D97-AF65-F5344CB8AC3E}">
        <p14:creationId xmlns:p14="http://schemas.microsoft.com/office/powerpoint/2010/main" val="167243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27F8AA-E38C-4566-BE0E-6A2DDBE1846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E731B3-E5C4-4F8E-830D-BBE745970A96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096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00" b="0">
                <a:solidFill>
                  <a:srgbClr val="334E68"/>
                </a:solidFill>
              </a:defRPr>
            </a:defPPr>
          </a:lstStyle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24 public classical-piano MIDI files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Preprocessing chordifies simultaneous notes and quantizes duration to a sixteenth-note grid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Each piece is transposed to a shared C tonal centre before training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Fixed split: 20 whole pieces for training and 4 for testing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One vocabulary and one reproducible seed support every model</a:t>
            </a:r>
          </a:p>
        </p:txBody>
      </p:sp>
    </p:spTree>
    <p:extLst>
      <p:ext uri="{BB962C8B-B14F-4D97-AF65-F5344CB8AC3E}">
        <p14:creationId xmlns:p14="http://schemas.microsoft.com/office/powerpoint/2010/main" val="42908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D3ABE5-A0F9-4CBC-BDDF-39AB07279529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Four model approaches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8C7B0-A86A-40B6-A1E6-62824F798E5C}"/>
              </a:ext>
            </a:extLst>
          </p:cNvPr>
          <p:cNvSpPr>
            <a:spLocks noGrp="1"/>
          </p:cNvSpPr>
          <p:nvPr/>
        </p:nvSpPr>
        <p:spPr>
          <a:xfrm>
            <a:off x="876300" y="1190625"/>
            <a:ext cx="10096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00" b="0">
                <a:solidFill>
                  <a:srgbClr val="334E68"/>
                </a:solidFill>
              </a:defRPr>
            </a:defPPr>
          </a:lstStyle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1">
                <a:solidFill>
                  <a:srgbClr val="334E68"/>
                </a:solidFill>
              </a:rPr>
              <a:t>Naive Bayes</a:t>
            </a: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Smoothed probability of the next event conditioned on the last three events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1">
                <a:solidFill>
                  <a:srgbClr val="334E68"/>
                </a:solidFill>
              </a:rPr>
              <a:t>Neural network</a:t>
            </a: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Fixed 40-event context mapped to the next event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1">
                <a:solidFill>
                  <a:srgbClr val="334E68"/>
                </a:solidFill>
              </a:rPr>
              <a:t>LSTM</a:t>
            </a: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Recurrent state models longer sequential dependencies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1">
                <a:solidFill>
                  <a:srgbClr val="334E68"/>
                </a:solidFill>
              </a:rPr>
              <a:t>Encoder-decoder</a:t>
            </a: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GRU encodes a 40-event phrase and decodes an eight-event continuation</a:t>
            </a:r>
          </a:p>
        </p:txBody>
      </p:sp>
    </p:spTree>
    <p:extLst>
      <p:ext uri="{BB962C8B-B14F-4D97-AF65-F5344CB8AC3E}">
        <p14:creationId xmlns:p14="http://schemas.microsoft.com/office/powerpoint/2010/main" val="34930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F199617-966D-486B-9EE9-AA3F1744F323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Fair training protocol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DB142B-F7E2-49D7-A25C-484D9FFB305C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096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00" b="0">
                <a:solidFill>
                  <a:srgbClr val="334E68"/>
                </a:solidFill>
              </a:defRPr>
            </a:defPPr>
          </a:lstStyle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Same prepared corpus, vocabulary, train/test split, and random seed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Neural models: 500 epochs, context 40, batch size 64, AdamW, learning rate 0.0005, gradient clipping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Naive Bayes: one closed-form count fit on the identical training events</a:t>
            </a:r>
          </a:p>
          <a:p>
            <a:endParaRPr sz="2000" b="0">
              <a:solidFill>
                <a:srgbClr val="334E68"/>
              </a:solidFill>
            </a:endParaRP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Compact comparable neural parameter budgets</a:t>
            </a:r>
          </a:p>
          <a:p>
            <a:pPr>
              <a:defRPr sz="2000" b="0">
                <a:solidFill>
                  <a:srgbClr val="334E68"/>
                </a:solidFill>
              </a:defRPr>
            </a:pPr>
            <a:r>
              <a:rPr sz="2000" b="0">
                <a:solidFill>
                  <a:srgbClr val="334E68"/>
                </a:solidFill>
              </a:rPr>
              <a:t>Feed-forward 468,290   LSTM 281,890   Encoder-decoder 297,602</a:t>
            </a:r>
          </a:p>
        </p:txBody>
      </p:sp>
    </p:spTree>
    <p:extLst>
      <p:ext uri="{BB962C8B-B14F-4D97-AF65-F5344CB8AC3E}">
        <p14:creationId xmlns:p14="http://schemas.microsoft.com/office/powerpoint/2010/main" val="210809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138096-E254-4898-BB8E-10000D9CF2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Held-out evaluation</a:t>
            </a:r>
          </a:p>
        </p:txBody>
      </p:sp>
      <p:graphicFrame>
        <p:nvGraphicFramePr>
          <p:cNvPr id="10" name="Results Table"/>
          <p:cNvGraphicFramePr>
            <a:graphicFrameLocks noGrp="1"/>
          </p:cNvGraphicFramePr>
          <p:nvPr/>
        </p:nvGraphicFramePr>
        <p:xfrm>
          <a:off x="876300" y="1238250"/>
          <a:ext cx="10096500" cy="2286000"/>
        </p:xfrm>
        <a:graphic>
          <a:graphicData uri="http://schemas.openxmlformats.org/drawingml/2006/table">
            <a:tbl>
              <a:tblPr firstRow="1" bandRow="1"/>
              <a:tblGrid>
                <a:gridCol w="409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Cross-entropy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02A43"/>
                          </a:solidFill>
                        </a:rPr>
                        <a:t>Naive Bayes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7.45%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n/a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02A43"/>
                          </a:solidFill>
                        </a:rPr>
                        <a:t>Neural network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5.62%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2.4141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02A43"/>
                          </a:solidFill>
                        </a:rPr>
                        <a:t>LSTM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2A43"/>
                          </a:solidFill>
                        </a:rPr>
                        <a:t>7.54%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102A43"/>
                          </a:solidFill>
                        </a:rPr>
                        <a:t>2.2687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102A43"/>
                          </a:solidFill>
                        </a:rPr>
                        <a:t>Encoder-decoder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2.40%*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4E68"/>
                          </a:solidFill>
                        </a:rPr>
                        <a:t>2.2971</a:t>
                      </a:r>
                    </a:p>
                  </a:txBody>
                  <a:tcPr marL="182880" marR="18288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E6FECBF-887A-4733-9B06-33BFB93BF41A}"/>
              </a:ext>
            </a:extLst>
          </p:cNvPr>
          <p:cNvSpPr>
            <a:spLocks noGrp="1"/>
          </p:cNvSpPr>
          <p:nvPr/>
        </p:nvSpPr>
        <p:spPr>
          <a:xfrm>
            <a:off x="876300" y="3750000"/>
            <a:ext cx="10096500" cy="2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334E68"/>
                </a:solidFill>
              </a:defRPr>
            </a:defPPr>
          </a:lstStyle>
          <a:p>
            <a:pPr>
              <a:spcAft>
                <a:spcPts val="900"/>
              </a:spcAft>
            </a:pPr>
            <a:r>
              <a:rPr sz="1600" b="0">
                <a:solidFill>
                  <a:srgbClr val="334E68"/>
                </a:solidFill>
              </a:rPr>
              <a:t>Exact next-event accuracy is strict for diverse classical pieces. Lower cross-entropy for the recurrent models indicates better distribution calibration. Listening tests remain essential for musical phrasing and harmony.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4E68"/>
                </a:solidFill>
              </a:rPr>
              <a:t>* Encoder-decoder accuracy is scored over eight-event continuations, so it is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2140833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138096-E254-4898-BB8E-10000D9CF2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Generated output</a:t>
            </a:r>
          </a:p>
        </p:txBody>
      </p:sp>
      <p:pic>
        <p:nvPicPr>
          <p:cNvPr id="50" name="Piano rolls" descr="Piano-roll plots of the MIDI generated by the four mod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150000"/>
            <a:ext cx="10096500" cy="458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3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138096-E254-4898-BB8E-10000D9CF2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Conclusions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FECBF-887A-4733-9B06-33BFB93BF41A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096500" cy="4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334E68"/>
                </a:solidFill>
              </a:defRPr>
            </a:defPPr>
          </a:lstStyle>
          <a:p>
            <a:pPr algn="l">
              <a:spcAft>
                <a:spcPts val="1000"/>
              </a:spcAft>
            </a:pPr>
            <a:r>
              <a:rPr lang="en-US" sz="1800" b="0" dirty="0">
                <a:solidFill>
                  <a:srgbClr val="334E68"/>
                </a:solidFill>
              </a:rPr>
              <a:t>LSTM performs best overall: lowest cross-entropy (2.2687) and highest accuracy among the neural models (7.54%).</a:t>
            </a:r>
          </a:p>
          <a:p>
            <a:pPr algn="l">
              <a:spcAft>
                <a:spcPts val="1000"/>
              </a:spcAft>
            </a:pPr>
            <a:r>
              <a:rPr lang="en-US" sz="1800" b="0" dirty="0">
                <a:solidFill>
                  <a:srgbClr val="334E68"/>
                </a:solidFill>
              </a:rPr>
              <a:t>Naive Bayes is a strong baseline (7.45% accuracy, no gradient training); the feed-forward network trails the recurrent models (5.62%, cross-entropy 2.4141).</a:t>
            </a:r>
          </a:p>
          <a:p>
            <a:pPr algn="l">
              <a:spcAft>
                <a:spcPts val="1000"/>
              </a:spcAft>
            </a:pPr>
            <a:r>
              <a:rPr lang="en-US" sz="1800" b="0" dirty="0">
                <a:solidFill>
                  <a:srgbClr val="334E68"/>
                </a:solidFill>
              </a:rPr>
              <a:t>Encoder-decoder has the second-lowest cross-entropy (2.2971); its 2.40% accuracy is scored on eight-event continuations.</a:t>
            </a:r>
          </a:p>
          <a:p>
            <a:pPr algn="l">
              <a:spcAft>
                <a:spcPts val="1000"/>
              </a:spcAft>
            </a:pPr>
            <a:r>
              <a:rPr lang="en-US" sz="1800" b="0" dirty="0">
                <a:solidFill>
                  <a:srgbClr val="334E68"/>
                </a:solidFill>
              </a:rPr>
              <a:t>The LSTM output keeps developing across the piece, while the encoder-decoder locks onto two repeated pitches late in the sample and the neural network stays in a narrow pitch band.</a:t>
            </a:r>
          </a:p>
          <a:p>
            <a:pPr algn="l">
              <a:spcAft>
                <a:spcPts val="1000"/>
              </a:spcAft>
            </a:pPr>
            <a:r>
              <a:rPr lang="en-US" sz="1800" b="0" dirty="0">
                <a:solidFill>
                  <a:srgbClr val="334E68"/>
                </a:solidFill>
              </a:rPr>
              <a:t>Next steps: a larger, stylistically consistent solo-piano corpus (48 to 80 pieces) and longer training.</a:t>
            </a:r>
          </a:p>
        </p:txBody>
      </p:sp>
    </p:spTree>
    <p:extLst>
      <p:ext uri="{BB962C8B-B14F-4D97-AF65-F5344CB8AC3E}">
        <p14:creationId xmlns:p14="http://schemas.microsoft.com/office/powerpoint/2010/main" val="214083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D12786-3649-487D-90A5-AA3431C4549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102A43"/>
                </a:solidFill>
              </a:defRPr>
            </a:defPPr>
          </a:lstStyle>
          <a:p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Demonstration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B8774-A99C-43F1-8A4C-0BE07E1D16D7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09650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334E68"/>
                </a:solidFill>
              </a:defRPr>
            </a:defPPr>
          </a:lstStyle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1. python -m src.preprocess</a:t>
            </a: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Creates artifacts/preprocessed</a:t>
            </a:r>
          </a:p>
          <a:p>
            <a:endParaRPr sz="1800" b="0">
              <a:solidFill>
                <a:srgbClr val="334E68"/>
              </a:solidFill>
            </a:endParaRP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2. python -m src.train_all --preset production</a:t>
            </a: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Creates all model checkpoints and metrics</a:t>
            </a:r>
          </a:p>
          <a:p>
            <a:endParaRPr sz="1800" b="0">
              <a:solidFill>
                <a:srgbClr val="334E68"/>
              </a:solidFill>
            </a:endParaRP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3. python -m src.generate --model lstm --events 384 --temperature 0.74 --top-k 10</a:t>
            </a: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Writes artifacts/generated/lstm_generated.mid</a:t>
            </a:r>
          </a:p>
          <a:p>
            <a:endParaRPr sz="1800" b="0">
              <a:solidFill>
                <a:srgbClr val="334E68"/>
              </a:solidFill>
            </a:endParaRPr>
          </a:p>
          <a:p>
            <a:pPr>
              <a:defRPr sz="1800" b="0">
                <a:solidFill>
                  <a:srgbClr val="334E68"/>
                </a:solidFill>
              </a:defRPr>
            </a:pPr>
            <a:r>
              <a:rPr sz="1800" b="0">
                <a:solidFill>
                  <a:srgbClr val="334E68"/>
                </a:solidFill>
              </a:rPr>
              <a:t>Open the MIDI in MuseScore or a DAW with a piano soundfont.</a:t>
            </a:r>
          </a:p>
        </p:txBody>
      </p:sp>
    </p:spTree>
    <p:extLst>
      <p:ext uri="{BB962C8B-B14F-4D97-AF65-F5344CB8AC3E}">
        <p14:creationId xmlns:p14="http://schemas.microsoft.com/office/powerpoint/2010/main" val="3350502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566</Words>
  <Application>Microsoft Office PowerPoint</Application>
  <DocSecurity>0</DocSecurity>
  <PresentationFormat>Widescreen</PresentationFormat>
  <Paragraphs>102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EC S&amp;H 2M 2024 RONAK THAMARAN</cp:lastModifiedBy>
  <cp:revision>3</cp:revision>
  <dcterms:created xsi:type="dcterms:W3CDTF">2026-10-11T16:33:03Z</dcterms:created>
  <dcterms:modified xsi:type="dcterms:W3CDTF">2026-10-12T18:32:11Z</dcterms:modified>
</cp:coreProperties>
</file>